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532009-6DAC-44E9-B0DD-22E913370E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E184FFA-9067-4B20-AB5E-4964672363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5BA6E91-4BC4-4AC1-B0C4-58BF6C9485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EFE1C21-1840-4E83-875C-6F6F7D4FE4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996A781-662E-41C5-AB78-AD9A1794E6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BBA2898-89B9-458A-B69F-8358FC528D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B26F9BF-F166-4B85-9753-BAA24869E2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E2941E3-B718-45CD-B273-7DBDAE22C7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59C9B11-3B22-478A-9F47-179446FA48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FCE50FC-F643-4F35-8F78-563B1927B1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B07A694-6DE8-45A6-9584-BDE0648C2D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703097B-B771-48A4-A56D-A7E3701FDC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151600" y="33282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540000" y="3328200"/>
            <a:ext cx="8999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40000" y="3328200"/>
            <a:ext cx="8999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40000" y="33282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1600" y="33282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583080" y="12600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625800" y="12600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540000" y="33282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583080" y="33282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625800" y="33282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1680" cy="1439280"/>
          </a:xfrm>
          <a:prstGeom prst="rect">
            <a:avLst/>
          </a:prstGeom>
          <a:ln w="2520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40000" y="33282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77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540000" y="33282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1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2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025FFD-698A-4EC0-BB6F-E41A06B67369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dt" idx="3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91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151600" y="33282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5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D22BE7-8147-41E3-A599-7C07FA8D23CD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7"/>
          <p:cNvSpPr>
            <a:spLocks noGrp="1"/>
          </p:cNvSpPr>
          <p:nvPr>
            <p:ph type="dt" idx="6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540000" y="3328200"/>
            <a:ext cx="8999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ftr" idx="7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sldNum" idx="8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2FA9E0-69E7-4062-B608-4C50221CF26C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7"/>
          <p:cNvSpPr>
            <a:spLocks noGrp="1"/>
          </p:cNvSpPr>
          <p:nvPr>
            <p:ph type="dt" idx="9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19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40000" y="3328200"/>
            <a:ext cx="8999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ftr" idx="10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sldNum" idx="11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32D517-D67B-4DA4-A23C-A66BF44D560F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dt" idx="12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31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540000" y="33282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5151600" y="3328200"/>
            <a:ext cx="4391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ftr" idx="13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sldNum" idx="14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9D45BA-F8C9-48D5-AFAE-04C751B1BEB5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8"/>
          <p:cNvSpPr>
            <a:spLocks noGrp="1"/>
          </p:cNvSpPr>
          <p:nvPr>
            <p:ph type="dt" idx="15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47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3583080" y="12600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625800" y="12600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540000" y="33282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3583080" y="33282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6625800" y="3328200"/>
            <a:ext cx="289728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8"/>
          <p:cNvSpPr>
            <a:spLocks noGrp="1"/>
          </p:cNvSpPr>
          <p:nvPr>
            <p:ph type="ftr" idx="16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9"/>
          <p:cNvSpPr>
            <a:spLocks noGrp="1"/>
          </p:cNvSpPr>
          <p:nvPr>
            <p:ph type="sldNum" idx="17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45A6D0-191F-483F-BF66-11984C933611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10"/>
          <p:cNvSpPr>
            <a:spLocks noGrp="1"/>
          </p:cNvSpPr>
          <p:nvPr>
            <p:ph type="dt" idx="18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60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ftr" idx="19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20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B09A7E-2545-4329-84A2-94C1FF262810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21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68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ftr" idx="22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23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7D8128-BA74-4C6B-8B40-E15FAB845D29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dt" idx="24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77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ftr" idx="25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sldNum" idx="26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78DEE1-3CCB-4BF3-886D-1334E4B0A776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dt" idx="27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87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ftr" idx="28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sldNum" idx="29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A3EA1D-5ADC-4815-BBCE-A6DC2887303B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 type="dt" idx="30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199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ftr" idx="31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32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E70CE2-C692-4775-B1DB-5CA9AE34D673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33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>
            <a:off x="0" y="-8640"/>
            <a:ext cx="1007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5280" cy="719280"/>
          </a:xfrm>
          <a:prstGeom prst="rect">
            <a:avLst/>
          </a:prstGeom>
          <a:ln w="25200">
            <a:noFill/>
          </a:ln>
        </p:spPr>
      </p:pic>
      <p:pic>
        <p:nvPicPr>
          <p:cNvPr id="207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19280" cy="179280"/>
          </a:xfrm>
          <a:prstGeom prst="rect">
            <a:avLst/>
          </a:prstGeom>
          <a:ln w="2520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ftr" idx="34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35"/>
          </p:nvPr>
        </p:nvSpPr>
        <p:spPr>
          <a:xfrm>
            <a:off x="720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EBD6DF-814A-401D-86D1-BDD8DA33276A}" type="slidenum">
              <a:rPr b="0" lang="en-IN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dt" idx="36"/>
          </p:nvPr>
        </p:nvSpPr>
        <p:spPr>
          <a:xfrm>
            <a:off x="540000" y="5400000"/>
            <a:ext cx="2339280" cy="26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40000" y="1620000"/>
            <a:ext cx="7559280" cy="9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IN" sz="2600" spc="-1" strike="noStrike">
                <a:solidFill>
                  <a:srgbClr val="000000"/>
                </a:solidFill>
                <a:highlight>
                  <a:srgbClr val="ffffff"/>
                </a:highlight>
                <a:latin typeface="Noto Sans"/>
              </a:rPr>
              <a:t>Named Entity Recognition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210600" y="4892400"/>
            <a:ext cx="2848680" cy="50688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  <a:ea typeface="DejaVu Sans"/>
              </a:rPr>
              <a:t>By: Sudhir Kumar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  <a:ea typeface="DejaVu Sans"/>
              </a:rPr>
              <a:t>Email: sudhirln92@gmail.com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2700" spc="-1" strike="noStrike">
                <a:solidFill>
                  <a:srgbClr val="ff6600"/>
                </a:solidFill>
                <a:latin typeface="Arial"/>
              </a:rPr>
              <a:t>Introduction</a:t>
            </a:r>
            <a:endParaRPr b="0" lang="en-IN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8999280" cy="39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n-IN" sz="1500" spc="-1" strike="noStrike">
                <a:solidFill>
                  <a:srgbClr val="000000"/>
                </a:solidFill>
                <a:latin typeface="Arial"/>
              </a:rPr>
              <a:t>Named-entity recognition (NER)</a:t>
            </a:r>
            <a:r>
              <a:rPr b="0" lang="en-IN" sz="1500" spc="-1" strike="noStrike">
                <a:solidFill>
                  <a:srgbClr val="000000"/>
                </a:solidFill>
                <a:latin typeface="Arial"/>
              </a:rPr>
              <a:t> is a problem that has a goal to locate and classify named entities mentioned in unstructured text into pre-defined categories such as person names, organizations, locations, medical codes, time expressions, etc.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000000"/>
                </a:solidFill>
                <a:latin typeface="Arial"/>
              </a:rPr>
              <a:t>Data Processing: Processing text 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1" lang="en-IN" sz="1500" spc="-1" strike="noStrike">
                <a:solidFill>
                  <a:srgbClr val="000000"/>
                </a:solidFill>
                <a:latin typeface="Arial"/>
              </a:rPr>
              <a:t>BERT</a:t>
            </a:r>
            <a:r>
              <a:rPr b="0" lang="en-IN" sz="1500" spc="-1" strike="noStrike">
                <a:solidFill>
                  <a:srgbClr val="000000"/>
                </a:solidFill>
                <a:latin typeface="Arial"/>
              </a:rPr>
              <a:t> (Bidirectional Encoder Representations from Transformers) is a neural network that is capable of parsing language in the same way a human does. It uses word embeddings to translate words into numbers and then back again, allowing it to understand word context and meaning.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1" lang="en-IN" sz="1500" spc="-1" strike="noStrike">
                <a:solidFill>
                  <a:srgbClr val="000000"/>
                </a:solidFill>
                <a:latin typeface="Arial"/>
              </a:rPr>
              <a:t>AWS SageMaker Training And Deployment </a:t>
            </a:r>
            <a:r>
              <a:rPr b="0" lang="en-IN" sz="1500" spc="-1" strike="noStrike">
                <a:solidFill>
                  <a:srgbClr val="000000"/>
                </a:solidFill>
                <a:latin typeface="Arial"/>
              </a:rPr>
              <a:t>use Amazon SageMaker to quickly build, train, and deploy machine learning (ML) models at any scale. As a proactive measure against model degradation, you can use Amazon SageMaker Model Monitor to continuously monitor the quality of your ML models in real time. 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AD27049-D838-4D65-BF7D-BFA7CFC010B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7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2700" spc="-1" strike="noStrike">
                <a:solidFill>
                  <a:srgbClr val="ff6600"/>
                </a:solidFill>
                <a:latin typeface="Arial"/>
              </a:rPr>
              <a:t>AWS Architecture</a:t>
            </a:r>
            <a:endParaRPr b="0" lang="en-IN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tretch/>
        </p:blipFill>
        <p:spPr>
          <a:xfrm>
            <a:off x="180000" y="900000"/>
            <a:ext cx="9539280" cy="4403880"/>
          </a:xfrm>
          <a:prstGeom prst="rect">
            <a:avLst/>
          </a:prstGeom>
          <a:ln w="252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77F4270-20E5-427E-893E-49364742433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2024-07-21T22:48:00Z</dcterms:created>
  <dc:creator/>
  <dc:description/>
  <dc:language>en-IN</dc:language>
  <cp:lastModifiedBy/>
  <dcterms:modified xsi:type="dcterms:W3CDTF">2024-07-21T22:57:24Z</dcterms:modified>
  <cp:revision>4</cp:revision>
  <dc:subject/>
  <dc:title>Pencil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